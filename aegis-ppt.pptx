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12192000"/>
  <p:embeddedFontLst>
    <p:embeddedFont>
      <p:font typeface="Gelasio" panose="020B0604020202020204" charset="0"/>
      <p:regular r:id="rId12"/>
    </p:embeddedFont>
    <p:embeddedFont>
      <p:font typeface="Lato" panose="020F0502020204030203" pitchFamily="34" charset="0"/>
      <p:regular r:id="rId13"/>
    </p:embeddedFont>
    <p:embeddedFont>
      <p:font typeface="Lato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885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Lavanya-Vaidya/Exasol" TargetMode="External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6858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AEGIS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942703"/>
            <a:ext cx="6296860" cy="3260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Adaptive Engine for Guarding, Intelligence &amp; Security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548689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BC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suspicious events to actionable threats.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4" y="519807"/>
            <a:ext cx="1123922" cy="210568"/>
          </a:xfrm>
          <a:prstGeom prst="roundRect">
            <a:avLst>
              <a:gd name="adj" fmla="val 22134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US" sz="4000"/>
          </a:p>
        </p:txBody>
      </p:sp>
      <p:sp>
        <p:nvSpPr>
          <p:cNvPr id="3" name="Text 1"/>
          <p:cNvSpPr/>
          <p:nvPr/>
        </p:nvSpPr>
        <p:spPr>
          <a:xfrm>
            <a:off x="718127" y="548084"/>
            <a:ext cx="1123922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627" y="73037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Isolated Detection Misses Connected Threats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27" y="1236218"/>
            <a:ext cx="5556012" cy="55561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94563" y="2344915"/>
            <a:ext cx="5319083" cy="7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What's Missing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094564" y="3081003"/>
            <a:ext cx="5319083" cy="2508033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Transactions evaluated in </a:t>
            </a:r>
            <a:r>
              <a:rPr lang="en-US" sz="20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silo</a:t>
            </a:r>
            <a:endParaRPr lang="en-US" sz="20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cross-account correlation</a:t>
            </a:r>
            <a:endParaRPr lang="en-US" sz="20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Device &amp; behavior signals ignored</a:t>
            </a:r>
            <a:endParaRPr lang="en-US" sz="20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Coordinated fraud goes </a:t>
            </a:r>
            <a:r>
              <a:rPr lang="en-US" sz="20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undetected</a:t>
            </a:r>
            <a:endParaRPr lang="en-US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9097C3-48E5-DAE2-C97E-11A878A35B71}"/>
              </a:ext>
            </a:extLst>
          </p:cNvPr>
          <p:cNvSpPr/>
          <p:nvPr/>
        </p:nvSpPr>
        <p:spPr>
          <a:xfrm>
            <a:off x="11038114" y="6346924"/>
            <a:ext cx="1153886" cy="45620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>
            <a:extLst>
              <a:ext uri="{FF2B5EF4-FFF2-40B4-BE49-F238E27FC236}">
                <a16:creationId xmlns:a16="http://schemas.microsoft.com/office/drawing/2014/main" id="{0A13FEF5-3E3E-A2FB-B160-C077173C21EF}"/>
              </a:ext>
            </a:extLst>
          </p:cNvPr>
          <p:cNvSpPr/>
          <p:nvPr/>
        </p:nvSpPr>
        <p:spPr>
          <a:xfrm>
            <a:off x="661474" y="519807"/>
            <a:ext cx="1123922" cy="210568"/>
          </a:xfrm>
          <a:prstGeom prst="roundRect">
            <a:avLst>
              <a:gd name="adj" fmla="val 22134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US" sz="4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2CC9CE-A62D-F19B-0574-C59BEBA55241}"/>
              </a:ext>
            </a:extLst>
          </p:cNvPr>
          <p:cNvSpPr/>
          <p:nvPr/>
        </p:nvSpPr>
        <p:spPr>
          <a:xfrm>
            <a:off x="11038114" y="6346924"/>
            <a:ext cx="1153886" cy="45620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1475" y="560484"/>
            <a:ext cx="1304033" cy="13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748966"/>
            <a:ext cx="12336068" cy="456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AEGIS Pipeline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91" y="1048245"/>
            <a:ext cx="9930428" cy="51566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3691" y="3530991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Layer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817124" y="3496517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ML &amp; ShadowNet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045620" y="3507556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Risk Fusion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6297365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End-to-end threat intelligence — from raw transaction data to automated action in milliseconds.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4FC41B-54B4-AEBD-58D9-DEDE45F3D1F6}"/>
              </a:ext>
            </a:extLst>
          </p:cNvPr>
          <p:cNvSpPr/>
          <p:nvPr/>
        </p:nvSpPr>
        <p:spPr>
          <a:xfrm>
            <a:off x="11038114" y="6346924"/>
            <a:ext cx="1153886" cy="45620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FinalShadowNet">
            <a:hlinkClick r:id="" action="ppaction://media"/>
            <a:extLst>
              <a:ext uri="{FF2B5EF4-FFF2-40B4-BE49-F238E27FC236}">
                <a16:creationId xmlns:a16="http://schemas.microsoft.com/office/drawing/2014/main" id="{95ADA4FD-F41A-B988-4307-1E906E33CCB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8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5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054298"/>
            <a:ext cx="149975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E5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46765" y="1110952"/>
            <a:ext cx="188252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latin typeface="Lato" pitchFamily="34" charset="0"/>
                <a:ea typeface="Lato" pitchFamily="34" charset="-122"/>
                <a:cs typeface="Lato" pitchFamily="34" charset="-120"/>
              </a:rPr>
              <a:t>ANALYTICS LAYER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141704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How Exasol Powers AEGIS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5233360" y="2291159"/>
            <a:ext cx="3053877" cy="1404243"/>
          </a:xfrm>
          <a:prstGeom prst="roundRect">
            <a:avLst>
              <a:gd name="adj" fmla="val 565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28717" y="2486521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ACTIVITIES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2895203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transaction logs &amp; user events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476244" y="2291159"/>
            <a:ext cx="3053976" cy="1404243"/>
          </a:xfrm>
          <a:prstGeom prst="roundRect">
            <a:avLst>
              <a:gd name="adj" fmla="val 565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71601" y="2486521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THREAT_PATTERNS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671601" y="2895203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Historical fraud signatures &amp; anomaly baselines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33360" y="388441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28717" y="407977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SANDBOX_LOGS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5428717" y="4488458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Behavioral telemetry from isolated environments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233360" y="519886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Exasol's in-memory MPP engine enables </a:t>
            </a:r>
            <a:r>
              <a:rPr lang="en-US" sz="1450" b="1" dirty="0">
                <a:solidFill>
                  <a:srgbClr val="00BCD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sub-second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analytical queries across billions of events.</a:t>
            </a:r>
            <a:endParaRPr lang="en-US" sz="14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DA9455-41E7-8DF2-F6E8-3E48CC0F1B81}"/>
              </a:ext>
            </a:extLst>
          </p:cNvPr>
          <p:cNvSpPr/>
          <p:nvPr/>
        </p:nvSpPr>
        <p:spPr>
          <a:xfrm>
            <a:off x="11038114" y="6346924"/>
            <a:ext cx="1153886" cy="45620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4991"/>
            <a:ext cx="1626254" cy="287139"/>
          </a:xfrm>
          <a:prstGeom prst="roundRect">
            <a:avLst>
              <a:gd name="adj" fmla="val 22118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4879" y="781645"/>
            <a:ext cx="200903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 INTELLIGENCE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877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AEGIS Risk Fusion Engine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74478"/>
            <a:ext cx="5203794" cy="37458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2776" y="215086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Fusion → Action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2658765"/>
            <a:ext cx="2507394" cy="12282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48780" y="2873177"/>
            <a:ext cx="1976983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Allow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648780" y="3370163"/>
            <a:ext cx="19769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Score &lt; 20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2658765"/>
            <a:ext cx="2507394" cy="12282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45180" y="2873177"/>
            <a:ext cx="1976983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🔍</a:t>
            </a: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Monitor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345180" y="3370163"/>
            <a:ext cx="19769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Score 20–40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4076005"/>
            <a:ext cx="2507394" cy="122822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48780" y="4290417"/>
            <a:ext cx="1976983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⚠️</a:t>
            </a: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Review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648780" y="4787404"/>
            <a:ext cx="19769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Score 40–70</a:t>
            </a:r>
            <a:endParaRPr lang="en-US" sz="14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4076005"/>
            <a:ext cx="2507394" cy="122822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345180" y="4290417"/>
            <a:ext cx="1976983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🚫</a:t>
            </a: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Block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9345180" y="4787404"/>
            <a:ext cx="19769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Score &gt; 70</a:t>
            </a:r>
            <a:endParaRPr lang="en-US" sz="14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AEB017-711F-4896-A4D4-DEBA43D3E077}"/>
              </a:ext>
            </a:extLst>
          </p:cNvPr>
          <p:cNvSpPr/>
          <p:nvPr/>
        </p:nvSpPr>
        <p:spPr>
          <a:xfrm>
            <a:off x="11038114" y="6346924"/>
            <a:ext cx="1153886" cy="45620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551186"/>
            <a:ext cx="1203493" cy="287139"/>
          </a:xfrm>
          <a:prstGeom prst="roundRect">
            <a:avLst>
              <a:gd name="adj" fmla="val 22118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46765" y="1607840"/>
            <a:ext cx="158627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SHADOWNET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191393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Network Graph Investigation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5233360" y="2788047"/>
            <a:ext cx="6296860" cy="2518767"/>
          </a:xfrm>
          <a:prstGeom prst="roundRect">
            <a:avLst>
              <a:gd name="adj" fmla="val 3152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239710" y="2794397"/>
            <a:ext cx="3142080" cy="1404243"/>
          </a:xfrm>
          <a:custGeom>
            <a:avLst/>
            <a:gdLst/>
            <a:ahLst/>
            <a:cxnLst/>
            <a:rect l="l" t="t" r="r" b="b"/>
            <a:pathLst>
              <a:path w="3142080" h="1404243">
                <a:moveTo>
                  <a:pt x="66156" y="0"/>
                </a:moveTo>
                <a:lnTo>
                  <a:pt x="3142080" y="0"/>
                </a:lnTo>
                <a:lnTo>
                  <a:pt x="3142080" y="1404243"/>
                </a:lnTo>
                <a:lnTo>
                  <a:pt x="0" y="1404243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28717" y="2983409"/>
            <a:ext cx="2764066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🔗</a:t>
            </a: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Account Clusters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428717" y="3404791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Linked accounts sharing devices, IPs, or behaviors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381790" y="2794397"/>
            <a:ext cx="3142080" cy="1404243"/>
          </a:xfrm>
          <a:custGeom>
            <a:avLst/>
            <a:gdLst/>
            <a:ahLst/>
            <a:cxnLst/>
            <a:rect l="l" t="t" r="r" b="b"/>
            <a:pathLst>
              <a:path w="3142080" h="1404243">
                <a:moveTo>
                  <a:pt x="0" y="0"/>
                </a:moveTo>
                <a:lnTo>
                  <a:pt x="3075924" y="0"/>
                </a:lnTo>
                <a:arcTo wR="66156" hR="66158" stAng="16200000" swAng="5400000"/>
                <a:lnTo>
                  <a:pt x="3142080" y="1404243"/>
                </a:lnTo>
                <a:lnTo>
                  <a:pt x="0" y="1404243"/>
                </a:lnTo>
                <a:lnTo>
                  <a:pt x="0" y="0"/>
                </a:lnTo>
                <a:close/>
              </a:path>
            </a:pathLst>
          </a:cu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381790" y="2794397"/>
            <a:ext cx="25399" cy="1404243"/>
          </a:xfrm>
          <a:prstGeom prst="roundRect">
            <a:avLst>
              <a:gd name="adj" fmla="val 50001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70797" y="2983409"/>
            <a:ext cx="2764066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🖥️</a:t>
            </a: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Device Fingerprinting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70797" y="3404791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Cross-account device reuse = fraud signal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239710" y="4198640"/>
            <a:ext cx="6284160" cy="1101824"/>
          </a:xfrm>
          <a:custGeom>
            <a:avLst/>
            <a:gdLst/>
            <a:ahLst/>
            <a:cxnLst/>
            <a:rect l="l" t="t" r="r" b="b"/>
            <a:pathLst>
              <a:path w="6284160" h="1101824">
                <a:moveTo>
                  <a:pt x="0" y="0"/>
                </a:moveTo>
                <a:lnTo>
                  <a:pt x="6284160" y="0"/>
                </a:lnTo>
                <a:lnTo>
                  <a:pt x="6284160" y="1035666"/>
                </a:lnTo>
                <a:arcTo wR="66156" hR="66158" stAng="0" swAng="5400000"/>
                <a:lnTo>
                  <a:pt x="66156" y="1101824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239710" y="4198640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28717" y="4387652"/>
            <a:ext cx="5906146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💸</a:t>
            </a: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Transaction Chains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5428717" y="4809034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Money flow patterns across the network</a:t>
            </a:r>
            <a:endParaRPr lang="en-US" sz="14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3F05B5-663B-2CB8-7DD7-B37F418C1ECD}"/>
              </a:ext>
            </a:extLst>
          </p:cNvPr>
          <p:cNvSpPr/>
          <p:nvPr/>
        </p:nvSpPr>
        <p:spPr>
          <a:xfrm>
            <a:off x="11038114" y="6346924"/>
            <a:ext cx="1153886" cy="45620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3776"/>
            <a:ext cx="1102011" cy="165993"/>
          </a:xfrm>
          <a:prstGeom prst="roundRect">
            <a:avLst>
              <a:gd name="adj" fmla="val 22119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26958" y="556518"/>
            <a:ext cx="1260146" cy="10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60809"/>
            <a:ext cx="10868745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Full Stack Architecture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51136"/>
            <a:ext cx="10868745" cy="4974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22865" y="1832336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API &amp; UI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22865" y="2218364"/>
            <a:ext cx="2650038" cy="37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Flask orchestration and React dashboard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0578" y="3467279"/>
            <a:ext cx="2404269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ML &amp; Analytics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18521" y="3853307"/>
            <a:ext cx="2436325" cy="37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2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 scoring and analytics (ML + Exasol)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22865" y="4311466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Final Decision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622865" y="4697494"/>
            <a:ext cx="2650038" cy="379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Allow / Review / Block outcomes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475" y="6196310"/>
            <a:ext cx="1147833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Lightweight API layer connects real-time UI to heavy ML and analytics backends with minimal latency.</a:t>
            </a:r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9B0DDB-5739-AAED-D4E7-EDB5D11CA6E1}"/>
              </a:ext>
            </a:extLst>
          </p:cNvPr>
          <p:cNvSpPr/>
          <p:nvPr/>
        </p:nvSpPr>
        <p:spPr>
          <a:xfrm>
            <a:off x="11038114" y="6346924"/>
            <a:ext cx="1153886" cy="45620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56716"/>
            <a:ext cx="724775" cy="264616"/>
          </a:xfrm>
          <a:prstGeom prst="roundRect">
            <a:avLst>
              <a:gd name="adj" fmla="val 22126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37835" y="608905"/>
            <a:ext cx="1125410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IMPACT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233360" y="885527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From Event to Action</a:t>
            </a:r>
            <a:endParaRPr lang="en-US" sz="3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1670943"/>
            <a:ext cx="871218" cy="1045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65210" y="1845171"/>
            <a:ext cx="526501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EVENT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265210" y="2213670"/>
            <a:ext cx="526501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Raw transaction ingested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2716411"/>
            <a:ext cx="871218" cy="1045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5210" y="2890639"/>
            <a:ext cx="526501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CONTEXT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6265210" y="3259138"/>
            <a:ext cx="526501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Network &amp; behavior enriched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3761879"/>
            <a:ext cx="871218" cy="10454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65210" y="3936107"/>
            <a:ext cx="526501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PREDICTION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6265210" y="4304605"/>
            <a:ext cx="526501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ML + SHADOWNET fused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3360" y="4807347"/>
            <a:ext cx="871218" cy="10454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65210" y="4981575"/>
            <a:ext cx="526501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ACTION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6265210" y="5350073"/>
            <a:ext cx="526501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response triggered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5233360" y="6033492"/>
            <a:ext cx="6906444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350" b="1" dirty="0">
                <a:solidFill>
                  <a:srgbClr val="00BCD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GitHub:</a:t>
            </a: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8"/>
              </a:rPr>
              <a:t>https://github.com/Lavanya-Vaidya/Exasol</a:t>
            </a:r>
            <a:endParaRPr lang="en-US" sz="1350" dirty="0">
              <a:solidFill>
                <a:srgbClr val="27252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>
              <a:lnSpc>
                <a:spcPct val="128000"/>
              </a:lnSpc>
            </a:pPr>
            <a:r>
              <a:rPr lang="en-US" sz="1350" b="1" dirty="0">
                <a:solidFill>
                  <a:srgbClr val="00BCD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Demo:</a:t>
            </a: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https://drive.google.com/file/d/1WpnuUuCr9cKryRO1KakOo7IsnMcWY2WG/view</a:t>
            </a:r>
            <a:endParaRPr lang="en-US" sz="13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431789-6683-9505-436C-EB46EAF15C3C}"/>
              </a:ext>
            </a:extLst>
          </p:cNvPr>
          <p:cNvSpPr/>
          <p:nvPr/>
        </p:nvSpPr>
        <p:spPr>
          <a:xfrm>
            <a:off x="11038114" y="6346924"/>
            <a:ext cx="1153886" cy="45620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278</Words>
  <Application>Microsoft Office PowerPoint</Application>
  <PresentationFormat>Widescreen</PresentationFormat>
  <Paragraphs>73</Paragraphs>
  <Slides>9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Lato Bold</vt:lpstr>
      <vt:lpstr>Lato</vt:lpstr>
      <vt:lpstr>Gelasio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Sidak singh</dc:creator>
  <cp:lastModifiedBy>Sidak singh</cp:lastModifiedBy>
  <cp:revision>2</cp:revision>
  <dcterms:created xsi:type="dcterms:W3CDTF">2026-08-23T18:35:49Z</dcterms:created>
  <dcterms:modified xsi:type="dcterms:W3CDTF">2026-08-23T18:46:28Z</dcterms:modified>
</cp:coreProperties>
</file>